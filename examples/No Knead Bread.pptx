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EE9909263876}">
      <p14:sectionLst xmlns:p14="http://schemas.microsoft.com/office/powerpoint/2010/main">
        <p14:section name="Introduction" id="{introduction}"/>
        <p14:section name="Preparation" id="{preparation}"/>
        <p14:section name="Baking &amp; Serving" id="{baking &amp; serving}"/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example.com/artisan-bread-guid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>
                <a:solidFill>
                  <a:srgbClr val="0F172A"/>
                </a:solidFill>
                <a:latin typeface="Calibri"/>
              </a:rPr>
              <a:t>No Knead Bread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b="0">
                <a:solidFill>
                  <a:srgbClr val="475569"/>
                </a:solidFill>
                <a:latin typeface="Calibri"/>
              </a:rPr>
              <a:t>No kneading required, 4 simple ingredients, baked in a Dutch Oven.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>
                <a:solidFill>
                  <a:srgbClr val="0F172A"/>
                </a:solidFill>
                <a:latin typeface="Calibri"/>
              </a:rPr>
              <a:t>Introduction &amp;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731520" y="1463040"/>
            <a:ext cx="4114800" cy="4754880"/>
          </a:xfr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lIns="256032" rIns="256032" tIns="256032" bIns="256032" wrap="square"/>
          <a:lstStyle/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100" b="1">
                <a:solidFill>
                  <a:srgbClr val="0369A1"/>
                </a:solidFill>
                <a:latin typeface="Calibri"/>
              </a:rPr>
              <a:t>OVERVIEW &amp; PHILOSOPHY</a:t>
            </a: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350" b="0">
                <a:solidFill>
                  <a:srgbClr val="334155"/>
                </a:solidFill>
                <a:latin typeface="Calibri"/>
              </a:rPr>
              <a:t>The simplicity of this no-knead bread is what makes it a household favorite. Your entire home will fill with the aroma of fresh artisan bakery bread as it bakes.</a:t>
            </a: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350" b="0">
                <a:solidFill>
                  <a:srgbClr val="334155"/>
                </a:solidFill>
                <a:latin typeface="Calibri"/>
              </a:rPr>
              <a:t>Requiring zero special equipment and just four basic pantry staples, this method delivers a golden, blistered crust and a moist, airy crumb.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>
                <a:solidFill>
                  <a:srgbClr val="334155"/>
                </a:solidFill>
                <a:latin typeface="Calibri"/>
              </a:rPr>
              <a:t>A slow, 12 to 18-hour room-temperature fermentation develops rich flavor and a chewy artisan texture without any manual kneading.</a:t>
            </a:r>
          </a:p>
        </p:txBody>
      </p:sp>
      <p:pic>
        <p:nvPicPr>
          <p:cNvPr id="4" name="Artisan Bread Loaf" descr="A freshly baked round loaf of golden-brown artisanal no-knead bread with a crispy, flour-dusted crust in a Dutch ove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3383280" cy="22432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>
                <a:solidFill>
                  <a:srgbClr val="0F172A"/>
                </a:solidFill>
                <a:latin typeface="Calibri"/>
              </a:rPr>
              <a:t>Ingredients</a:t>
            </a:r>
          </a:p>
        </p:txBody>
      </p:sp>
      <p:graphicFrame>
        <p:nvGraphicFramePr>
          <p:cNvPr id="3" name="Ingredients Table"/>
          <p:cNvGraphicFramePr>
            <a:graphicFrameLocks noGrp="1"/>
          </p:cNvGraphicFramePr>
          <p:nvPr/>
        </p:nvGraphicFramePr>
        <p:xfrm>
          <a:off x="914400" y="1645920"/>
          <a:ext cx="7315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585216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</a:rPr>
                        <a:t>Ingredient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334155"/>
                          </a:solidFill>
                          <a:latin typeface="Calibri"/>
                        </a:rPr>
                        <a:t>All-Purpose Flour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334155"/>
                          </a:solidFill>
                          <a:latin typeface="Calibri"/>
                        </a:rPr>
                        <a:t>3 cups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334155"/>
                          </a:solidFill>
                          <a:latin typeface="Calibri"/>
                        </a:rPr>
                        <a:t>Unbleached white flour preferred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334155"/>
                          </a:solidFill>
                          <a:latin typeface="Calibri"/>
                        </a:rPr>
                        <a:t>Salt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334155"/>
                          </a:solidFill>
                          <a:latin typeface="Calibri"/>
                        </a:rPr>
                        <a:t>1 3/4 tsp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334155"/>
                          </a:solidFill>
                          <a:latin typeface="Calibri"/>
                        </a:rPr>
                        <a:t>Fine sea salt or kosher salt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334155"/>
                          </a:solidFill>
                          <a:latin typeface="Calibri"/>
                        </a:rPr>
                        <a:t>Active Dry Yeast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334155"/>
                          </a:solidFill>
                          <a:latin typeface="Calibri"/>
                        </a:rPr>
                        <a:t>1/2 tsp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334155"/>
                          </a:solidFill>
                          <a:latin typeface="Calibri"/>
                        </a:rPr>
                        <a:t>Instant or dry active yeast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334155"/>
                          </a:solidFill>
                          <a:latin typeface="Calibri"/>
                        </a:rPr>
                        <a:t>Water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334155"/>
                          </a:solidFill>
                          <a:latin typeface="Calibri"/>
                        </a:rPr>
                        <a:t>1 1/2 cups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334155"/>
                          </a:solidFill>
                          <a:latin typeface="Calibri"/>
                        </a:rPr>
                        <a:t>Room temperature (approx. 70°F)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>
                <a:solidFill>
                  <a:srgbClr val="0F172A"/>
                </a:solidFill>
                <a:latin typeface="Calibri"/>
              </a:rPr>
              <a:t>Step-by-Step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731520" y="1463040"/>
            <a:ext cx="3657600" cy="4754880"/>
          </a:xfr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lIns="256032" rIns="256032" tIns="256032" bIns="256032" wrap="square"/>
          <a:lstStyle/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100" b="1">
                <a:solidFill>
                  <a:srgbClr val="0369A1"/>
                </a:solidFill>
                <a:latin typeface="Calibri"/>
              </a:rPr>
              <a:t>PHASE 1: PREPARATION &amp; FERMENT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50" b="1">
                <a:solidFill>
                  <a:srgbClr val="0F172A"/>
                </a:solidFill>
                <a:latin typeface="Calibri"/>
              </a:rPr>
              <a:t>01  Whisk Dry Ingredients</a:t>
            </a:r>
          </a:p>
          <a:p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200" b="0">
                <a:solidFill>
                  <a:srgbClr val="334155"/>
                </a:solidFill>
                <a:latin typeface="Calibri"/>
              </a:rPr>
              <a:t>In a large mixing bowl, whisk together 3 cups all-purpose flour, 1¾ tsp salt, and ½ tsp active dry yeast.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50" b="1">
                <a:solidFill>
                  <a:srgbClr val="0F172A"/>
                </a:solidFill>
                <a:latin typeface="Calibri"/>
              </a:rPr>
              <a:t>02  Form Shaggy Dough</a:t>
            </a:r>
          </a:p>
          <a:p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200" b="0">
                <a:solidFill>
                  <a:srgbClr val="334155"/>
                </a:solidFill>
                <a:latin typeface="Calibri"/>
              </a:rPr>
              <a:t>Pour in 1½ cups room-temperature water. Mix with a spatula or wooden spoon until thoroughly incorporated.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50" b="1">
                <a:solidFill>
                  <a:srgbClr val="0F172A"/>
                </a:solidFill>
                <a:latin typeface="Calibri"/>
              </a:rPr>
              <a:t>03  Overnight Counter Rest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334155"/>
                </a:solidFill>
                <a:latin typeface="Calibri"/>
              </a:rPr>
              <a:t>Cover bowl tightly with plastic wrap. Let rest at room temperature for 12 to 18 hours until bubbly and doubled.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4754880" y="1463040"/>
            <a:ext cx="3657600" cy="4754880"/>
          </a:xfr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lIns="256032" rIns="256032" tIns="256032" bIns="256032" wrap="square"/>
          <a:lstStyle/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100" b="1">
                <a:solidFill>
                  <a:srgbClr val="0369A1"/>
                </a:solidFill>
                <a:latin typeface="Calibri"/>
              </a:rPr>
              <a:t>PHASE 2: PREHEAT &amp; BAKE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50" b="1">
                <a:solidFill>
                  <a:srgbClr val="0F172A"/>
                </a:solidFill>
                <a:latin typeface="Calibri"/>
              </a:rPr>
              <a:t>04  Preheat Oven &amp; Dutch Oven</a:t>
            </a:r>
          </a:p>
          <a:p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200" b="0">
                <a:solidFill>
                  <a:srgbClr val="334155"/>
                </a:solidFill>
                <a:latin typeface="Calibri"/>
              </a:rPr>
              <a:t>Place covered cast iron Dutch oven inside oven. Preheat both together to 450°F (230°C) for at least 30 minutes.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50" b="1">
                <a:solidFill>
                  <a:srgbClr val="0F172A"/>
                </a:solidFill>
                <a:latin typeface="Calibri"/>
              </a:rPr>
              <a:t>05  Shape &amp; Transfer Dough</a:t>
            </a:r>
          </a:p>
          <a:p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200" b="0">
                <a:solidFill>
                  <a:srgbClr val="334155"/>
                </a:solidFill>
                <a:latin typeface="Calibri"/>
              </a:rPr>
              <a:t>With floured hands, gently turn dough onto a floured counter, shape into a ball, and drop into hot pot.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50" b="1">
                <a:solidFill>
                  <a:srgbClr val="0F172A"/>
                </a:solidFill>
                <a:latin typeface="Calibri"/>
              </a:rPr>
              <a:t>06  Covered &amp; Uncovered Bake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334155"/>
                </a:solidFill>
                <a:latin typeface="Calibri"/>
              </a:rPr>
              <a:t>Bake covered 30 minutes to trap steam. Remove lid and bake 15–20 minutes more until crust is deeply golden.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>
                <a:solidFill>
                  <a:srgbClr val="0F172A"/>
                </a:solidFill>
                <a:latin typeface="Calibri"/>
              </a:rPr>
              <a:t>Serving &amp; Storage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731520" y="1463040"/>
            <a:ext cx="3657600" cy="4754880"/>
          </a:xfr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lIns="256032" rIns="256032" tIns="256032" bIns="256032" wrap="square"/>
          <a:lstStyle/>
          <a:p>
            <a:pPr>
              <a:spcBef>
                <a:spcPts val="0"/>
              </a:spcBef>
              <a:spcAft>
                <a:spcPts val="1400"/>
              </a:spcAft>
              <a:buNone/>
            </a:pPr>
            <a:r>
              <a:rPr lang="en-US" sz="1100" b="1">
                <a:solidFill>
                  <a:srgbClr val="0369A1"/>
                </a:solidFill>
                <a:latin typeface="Calibri"/>
              </a:rPr>
              <a:t>HANDLING &amp; STORAGE PROTOCOL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350" b="1">
                <a:solidFill>
                  <a:srgbClr val="0F172A"/>
                </a:solidFill>
                <a:latin typeface="Calibri"/>
              </a:rPr>
              <a:t>Cool Completely Before Slicing</a:t>
            </a:r>
          </a:p>
          <a:p>
            <a:pPr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250" b="0">
                <a:solidFill>
                  <a:srgbClr val="334155"/>
                </a:solidFill>
                <a:latin typeface="Calibri"/>
              </a:rPr>
              <a:t>Allow loaf to rest on a wire cooling rack for at least 1 full hour. Slicing warm bread compresses steam and creates a gummy, dense crumb.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350" b="1">
                <a:solidFill>
                  <a:srgbClr val="0F172A"/>
                </a:solidFill>
                <a:latin typeface="Calibri"/>
              </a:rPr>
              <a:t>Preserve the Crust (No Plastic)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>
                <a:solidFill>
                  <a:srgbClr val="334155"/>
                </a:solidFill>
                <a:latin typeface="Calibri"/>
              </a:rPr>
              <a:t>Store cut-side down in a breathable paper bag or wooden bread box at room temperature for up to 3 days. Avoid plastic bags, which trap moisture and soften the crust.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4754880" y="1463040"/>
            <a:ext cx="3657600" cy="4754880"/>
          </a:xfr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lIns="256032" rIns="256032" tIns="256032" bIns="256032" wrap="square"/>
          <a:lstStyle/>
          <a:p>
            <a:pPr>
              <a:spcBef>
                <a:spcPts val="0"/>
              </a:spcBef>
              <a:spcAft>
                <a:spcPts val="1400"/>
              </a:spcAft>
              <a:buNone/>
            </a:pPr>
            <a:r>
              <a:rPr lang="en-US" sz="1100" b="1">
                <a:solidFill>
                  <a:srgbClr val="0369A1"/>
                </a:solidFill>
                <a:latin typeface="Calibri"/>
              </a:rPr>
              <a:t>SERVING IDEAS &amp; RESOURCES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350" b="1">
                <a:solidFill>
                  <a:srgbClr val="0F172A"/>
                </a:solidFill>
                <a:latin typeface="Calibri"/>
              </a:rPr>
              <a:t>Pairing &amp; Serving Ideas</a:t>
            </a:r>
          </a:p>
          <a:p>
            <a:pPr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250" b="0">
                <a:solidFill>
                  <a:srgbClr val="334155"/>
                </a:solidFill>
                <a:latin typeface="Calibri"/>
              </a:rPr>
              <a:t>Slice thick and serve warm with salted European cultured butter, extra virgin olive oil with flaky sea salt, artisan cheeses, or dipping into hearty soups.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350" b="1">
                <a:solidFill>
                  <a:srgbClr val="0F172A"/>
                </a:solidFill>
                <a:latin typeface="Calibri"/>
              </a:rPr>
              <a:t>Baker's Companion Guide</a:t>
            </a:r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50" b="0">
                <a:solidFill>
                  <a:srgbClr val="334155"/>
                </a:solidFill>
                <a:latin typeface="Calibri"/>
              </a:rPr>
              <a:t>Looking for hydration ratios, whole wheat variations, and troubleshooting tips?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0369A1"/>
                </a:solidFill>
                <a:latin typeface="Calibri"/>
                <a:hlinkClick r:id="rId2"/>
              </a:rPr>
              <a:t>Explore the Complete Artisan Dutch Oven 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Knead Bread Recipe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